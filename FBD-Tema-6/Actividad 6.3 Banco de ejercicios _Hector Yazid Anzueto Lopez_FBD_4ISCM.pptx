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8" r:id="rId2"/>
    <p:sldId id="257" r:id="rId3"/>
    <p:sldId id="259" r:id="rId4"/>
    <p:sldId id="261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6/14/2026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6/14/2026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6/14/2026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6/14/2026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ChangeArrowheads="1"/>
          </p:cNvSpPr>
          <p:nvPr/>
        </p:nvSpPr>
        <p:spPr bwMode="auto">
          <a:xfrm>
            <a:off x="3388420" y="2088863"/>
            <a:ext cx="4846199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Instituto Tecnológico de Frontera Comalapa</a:t>
            </a:r>
            <a:endParaRPr kumimoji="0" lang="es-MX" altLang="es-MX" sz="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Modalidad Mixta</a:t>
            </a:r>
            <a:endParaRPr kumimoji="0" lang="es-MX" altLang="es-MX" sz="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Materia:</a:t>
            </a:r>
            <a:endParaRPr kumimoji="0" lang="es-MX" altLang="es-MX" sz="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MX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Fundamentos de base de datos</a:t>
            </a:r>
            <a:endParaRPr kumimoji="0" lang="es-MX" altLang="es-MX" sz="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Semestre:</a:t>
            </a:r>
            <a:endParaRPr kumimoji="0" lang="es-MX" altLang="es-MX" sz="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Cuarto</a:t>
            </a:r>
            <a:endParaRPr kumimoji="0" lang="es-MX" altLang="es-MX" sz="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Carrera:</a:t>
            </a:r>
            <a:endParaRPr kumimoji="0" lang="es-MX" altLang="es-MX" sz="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Ingeniería en sistemas computacionales</a:t>
            </a:r>
            <a:endParaRPr kumimoji="0" lang="es-MX" altLang="es-MX" sz="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Numero de control:</a:t>
            </a:r>
            <a:endParaRPr kumimoji="0" lang="es-MX" altLang="es-MX" sz="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241260005</a:t>
            </a:r>
            <a:endParaRPr kumimoji="0" lang="es-MX" altLang="es-MX" sz="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Nombre del alumno:</a:t>
            </a:r>
            <a:endParaRPr kumimoji="0" lang="es-MX" altLang="es-MX" sz="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Hector</a:t>
            </a:r>
            <a:r>
              <a:rPr kumimoji="0" lang="es-MX" altLang="es-MX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kumimoji="0" lang="es-MX" altLang="es-MX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Yazid</a:t>
            </a:r>
            <a:r>
              <a:rPr kumimoji="0" lang="es-MX" altLang="es-MX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kumimoji="0" lang="es-MX" altLang="es-MX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Anzueto</a:t>
            </a:r>
            <a:r>
              <a:rPr kumimoji="0" lang="es-MX" altLang="es-MX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kumimoji="0" lang="es-MX" altLang="es-MX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Lopez</a:t>
            </a:r>
            <a:endParaRPr kumimoji="0" lang="es-MX" altLang="es-MX" sz="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Nombre del docente:</a:t>
            </a:r>
            <a:endParaRPr kumimoji="0" lang="es-MX" altLang="es-MX" sz="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Francisco Javier Mingo </a:t>
            </a:r>
            <a:r>
              <a:rPr kumimoji="0" lang="es-MX" altLang="es-MX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Velazquez</a:t>
            </a:r>
            <a:endParaRPr kumimoji="0" lang="es-MX" altLang="es-MX" sz="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Nombre del trabajo:</a:t>
            </a:r>
            <a:endParaRPr kumimoji="0" lang="es-MX" altLang="es-MX" sz="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Actividad </a:t>
            </a:r>
            <a:r>
              <a:rPr lang="es-MX" altLang="es-MX" sz="1600" dirty="0" smtClean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6.3 proyecto Final</a:t>
            </a:r>
            <a:endParaRPr kumimoji="0" lang="es-MX" altLang="es-MX" sz="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Fecha de entrega:</a:t>
            </a:r>
            <a:endParaRPr kumimoji="0" lang="es-MX" altLang="es-MX" sz="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Frontera Comalapa, Chiapas a </a:t>
            </a:r>
            <a:r>
              <a:rPr lang="es-MX" altLang="es-MX" sz="1600" dirty="0" smtClean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13 </a:t>
            </a:r>
            <a:r>
              <a:rPr kumimoji="0" lang="es-MX" altLang="es-MX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de </a:t>
            </a:r>
            <a:r>
              <a:rPr lang="es-MX" altLang="es-MX" sz="1600" dirty="0" smtClean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junio</a:t>
            </a:r>
            <a:r>
              <a:rPr kumimoji="0" lang="es-MX" altLang="es-MX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de 2026</a:t>
            </a:r>
            <a:endParaRPr kumimoji="0" lang="es-MX" altLang="es-MX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Imagen 2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514" t="17300" r="29520" b="65802"/>
          <a:stretch>
            <a:fillRect/>
          </a:stretch>
        </p:blipFill>
        <p:spPr bwMode="auto">
          <a:xfrm>
            <a:off x="2557937" y="263769"/>
            <a:ext cx="6507163" cy="147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487790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/>
              <a:t>Introducción</a:t>
            </a:r>
            <a:endParaRPr lang="es-MX" b="1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 algn="just">
              <a:buNone/>
            </a:pPr>
            <a:r>
              <a:rPr lang="es-MX" dirty="0" smtClean="0"/>
              <a:t>El </a:t>
            </a:r>
            <a:r>
              <a:rPr lang="es-MX" dirty="0"/>
              <a:t>desarrollo de sistemas de información de escritorio exige herramientas que garanticen un alto rendimiento, una arquitectura limpia y una interfaz de usuario intuitiva. Este proyecto presenta el diseño e implementación de una aplicación de escritorio desarrollada en el entorno de desarrollo integrado (IDE) </a:t>
            </a:r>
            <a:r>
              <a:rPr lang="es-MX" b="1" dirty="0" err="1"/>
              <a:t>IntelliJ</a:t>
            </a:r>
            <a:r>
              <a:rPr lang="es-MX" b="1" dirty="0"/>
              <a:t> IDEA</a:t>
            </a:r>
            <a:r>
              <a:rPr lang="es-MX" dirty="0"/>
              <a:t>.</a:t>
            </a:r>
          </a:p>
          <a:p>
            <a:pPr marL="0" indent="0" algn="just">
              <a:buNone/>
            </a:pPr>
            <a:r>
              <a:rPr lang="es-MX" dirty="0"/>
              <a:t>La arquitectura del sistema se fundamenta en la integración de tres tecnologías clave:</a:t>
            </a:r>
          </a:p>
          <a:p>
            <a:pPr algn="just"/>
            <a:r>
              <a:rPr lang="es-MX" b="1" dirty="0"/>
              <a:t>Spring </a:t>
            </a:r>
            <a:r>
              <a:rPr lang="es-MX" b="1" dirty="0" err="1"/>
              <a:t>Boot</a:t>
            </a:r>
            <a:r>
              <a:rPr lang="es-MX" b="1" dirty="0"/>
              <a:t>:</a:t>
            </a:r>
            <a:r>
              <a:rPr lang="es-MX" dirty="0"/>
              <a:t> Gestiona la lógica de negocio y la inversión de control.</a:t>
            </a:r>
          </a:p>
          <a:p>
            <a:pPr algn="just"/>
            <a:r>
              <a:rPr lang="es-MX" b="1" dirty="0" err="1"/>
              <a:t>JavaFX</a:t>
            </a:r>
            <a:r>
              <a:rPr lang="es-MX" b="1" dirty="0"/>
              <a:t>:</a:t>
            </a:r>
            <a:r>
              <a:rPr lang="es-MX" dirty="0"/>
              <a:t> Proporciona una interfaz gráfica moderna, fluida y reactiva.</a:t>
            </a:r>
          </a:p>
          <a:p>
            <a:pPr algn="just"/>
            <a:r>
              <a:rPr lang="es-MX" b="1" dirty="0" err="1"/>
              <a:t>PostgreSQL</a:t>
            </a:r>
            <a:r>
              <a:rPr lang="es-MX" b="1" dirty="0"/>
              <a:t>:</a:t>
            </a:r>
            <a:r>
              <a:rPr lang="es-MX" dirty="0"/>
              <a:t> Actúa como el sistema de gestión de bases de datos relacionales robusto y escalable.</a:t>
            </a:r>
          </a:p>
          <a:p>
            <a:pPr marL="0" indent="0" algn="just">
              <a:buNone/>
            </a:pPr>
            <a:r>
              <a:rPr lang="es-MX" dirty="0"/>
              <a:t>El sistema unifica estas herramientas para resolver problemas de almacenamiento, procesamiento y visualización de datos en tiempo real.</a:t>
            </a:r>
          </a:p>
        </p:txBody>
      </p:sp>
    </p:spTree>
    <p:extLst>
      <p:ext uri="{BB962C8B-B14F-4D97-AF65-F5344CB8AC3E}">
        <p14:creationId xmlns:p14="http://schemas.microsoft.com/office/powerpoint/2010/main" val="20906036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/>
              <a:t>Justificación</a:t>
            </a:r>
            <a:endParaRPr lang="es-MX" b="1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algn="just"/>
            <a:r>
              <a:rPr lang="es-MX" dirty="0" smtClean="0"/>
              <a:t>Las </a:t>
            </a:r>
            <a:r>
              <a:rPr lang="es-MX" dirty="0"/>
              <a:t>organizaciones actuales necesitan herramientas de software que procesen grandes volúmenes de información de forma segura y eficiente. Muchas aplicaciones tradicionales sufren de interfaces obsoletas o arquitecturas monolíticas difíciles de mantener.</a:t>
            </a:r>
          </a:p>
          <a:p>
            <a:pPr algn="just"/>
            <a:r>
              <a:rPr lang="es-MX" dirty="0"/>
              <a:t>Este proyecto se justifica por las siguientes razones técnicas y operativas:</a:t>
            </a:r>
          </a:p>
          <a:p>
            <a:pPr algn="just"/>
            <a:r>
              <a:rPr lang="es-MX" b="1" dirty="0"/>
              <a:t>Robustez de datos:</a:t>
            </a:r>
            <a:r>
              <a:rPr lang="es-MX" dirty="0"/>
              <a:t> </a:t>
            </a:r>
            <a:r>
              <a:rPr lang="es-MX" dirty="0" err="1"/>
              <a:t>PostgreSQL</a:t>
            </a:r>
            <a:r>
              <a:rPr lang="es-MX" dirty="0"/>
              <a:t> ofrece soporte avanzado para transacciones complejas y asegura la integridad de la información empresarial.</a:t>
            </a:r>
          </a:p>
          <a:p>
            <a:pPr algn="just"/>
            <a:r>
              <a:rPr lang="es-MX" b="1" dirty="0"/>
              <a:t>Mantenibilidad:</a:t>
            </a:r>
            <a:r>
              <a:rPr lang="es-MX" dirty="0"/>
              <a:t> Spring </a:t>
            </a:r>
            <a:r>
              <a:rPr lang="es-MX" dirty="0" err="1"/>
              <a:t>Boot</a:t>
            </a:r>
            <a:r>
              <a:rPr lang="es-MX" dirty="0"/>
              <a:t> implementa el patrón de diseño MVC (Modelo-Vista-Controlador) y la inyección de dependencias, facilitando futuras actualizaciones del código.</a:t>
            </a:r>
          </a:p>
          <a:p>
            <a:pPr algn="just"/>
            <a:r>
              <a:rPr lang="es-MX" b="1" dirty="0"/>
              <a:t>Experiencia de usuario:</a:t>
            </a:r>
            <a:r>
              <a:rPr lang="es-MX" dirty="0"/>
              <a:t> </a:t>
            </a:r>
            <a:r>
              <a:rPr lang="es-MX" dirty="0" err="1"/>
              <a:t>JavaFX</a:t>
            </a:r>
            <a:r>
              <a:rPr lang="es-MX" dirty="0"/>
              <a:t> permite crear vistas dinámicas y visualmente atractivas que mejoran la productividad del usuario final.</a:t>
            </a:r>
          </a:p>
          <a:p>
            <a:pPr algn="just"/>
            <a:r>
              <a:rPr lang="es-MX" b="1" dirty="0"/>
              <a:t>Eficiencia de desarrollo:</a:t>
            </a:r>
            <a:r>
              <a:rPr lang="es-MX" dirty="0"/>
              <a:t> El uso de </a:t>
            </a:r>
            <a:r>
              <a:rPr lang="es-MX" dirty="0" err="1"/>
              <a:t>IntelliJ</a:t>
            </a:r>
            <a:r>
              <a:rPr lang="es-MX" dirty="0"/>
              <a:t> IDEA optimiza los tiempos de programación gracias a sus herramientas avanzadas de refactorización y depuración.</a:t>
            </a:r>
          </a:p>
          <a:p>
            <a:pPr algn="just"/>
            <a:r>
              <a:rPr lang="es-MX" dirty="0"/>
              <a:t>La combinación de estas tecnologías resulta en un software comercialmente viable, seguro, rápido y de fácil adopción.</a:t>
            </a:r>
          </a:p>
        </p:txBody>
      </p:sp>
    </p:spTree>
    <p:extLst>
      <p:ext uri="{BB962C8B-B14F-4D97-AF65-F5344CB8AC3E}">
        <p14:creationId xmlns:p14="http://schemas.microsoft.com/office/powerpoint/2010/main" val="39938622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1825072" y="2769549"/>
            <a:ext cx="58514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/>
              <a:t>https://github.com/hectoranzueto4-byte/FBD-Tema-6</a:t>
            </a:r>
          </a:p>
        </p:txBody>
      </p:sp>
    </p:spTree>
    <p:extLst>
      <p:ext uri="{BB962C8B-B14F-4D97-AF65-F5344CB8AC3E}">
        <p14:creationId xmlns:p14="http://schemas.microsoft.com/office/powerpoint/2010/main" val="2922141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/>
              <a:t>Conclusión</a:t>
            </a:r>
            <a:endParaRPr lang="es-MX" b="1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s-MX" dirty="0" smtClean="0"/>
              <a:t>La </a:t>
            </a:r>
            <a:r>
              <a:rPr lang="es-MX" dirty="0"/>
              <a:t>realización de este proyecto demostró que la integración de Spring </a:t>
            </a:r>
            <a:r>
              <a:rPr lang="es-MX" dirty="0" err="1"/>
              <a:t>Boot</a:t>
            </a:r>
            <a:r>
              <a:rPr lang="es-MX" dirty="0"/>
              <a:t> con </a:t>
            </a:r>
            <a:r>
              <a:rPr lang="es-MX" dirty="0" err="1"/>
              <a:t>JavaFX</a:t>
            </a:r>
            <a:r>
              <a:rPr lang="es-MX" dirty="0"/>
              <a:t> es viable y altamente eficiente para aplicaciones de escritorio, a pesar de que Spring </a:t>
            </a:r>
            <a:r>
              <a:rPr lang="es-MX" dirty="0" err="1"/>
              <a:t>Boot</a:t>
            </a:r>
            <a:r>
              <a:rPr lang="es-MX" dirty="0"/>
              <a:t> se asocia más </a:t>
            </a:r>
            <a:r>
              <a:rPr lang="es-MX" dirty="0" err="1"/>
              <a:t>comunmente</a:t>
            </a:r>
            <a:r>
              <a:rPr lang="es-MX" dirty="0"/>
              <a:t> con entornos web. Se logró establecer una comunicación bidireccional limpia y segura con la base de datos </a:t>
            </a:r>
            <a:r>
              <a:rPr lang="es-MX" dirty="0" err="1"/>
              <a:t>PostgreSQL</a:t>
            </a:r>
            <a:r>
              <a:rPr lang="es-MX" dirty="0"/>
              <a:t>, garantizando la integridad de la información en cada operación CRUD (Crear, Leer, Actualizar, Borrar). La utilización de </a:t>
            </a:r>
            <a:r>
              <a:rPr lang="es-MX" dirty="0" err="1"/>
              <a:t>IntelliJ</a:t>
            </a:r>
            <a:r>
              <a:rPr lang="es-MX" dirty="0"/>
              <a:t> IDEA como IDE facilitó la gestión de dependencias mediante </a:t>
            </a:r>
            <a:r>
              <a:rPr lang="es-MX" dirty="0" err="1"/>
              <a:t>Maven</a:t>
            </a:r>
            <a:r>
              <a:rPr lang="es-MX" dirty="0"/>
              <a:t> o </a:t>
            </a:r>
            <a:r>
              <a:rPr lang="es-MX" dirty="0" err="1"/>
              <a:t>Gradle</a:t>
            </a:r>
            <a:r>
              <a:rPr lang="es-MX" dirty="0"/>
              <a:t> y agilizó el proceso de pruebas. En conclusión, la práctica cumplió con los objetivos académicos y técnicos establecidos, proporcionando una base sólida para el diseño de software modular, escalable y </a:t>
            </a:r>
            <a:r>
              <a:rPr lang="es-MX" dirty="0" err="1"/>
              <a:t>mantenible</a:t>
            </a:r>
            <a:r>
              <a:rPr lang="es-MX" dirty="0"/>
              <a:t> bajo estándares profesionales.</a:t>
            </a:r>
          </a:p>
        </p:txBody>
      </p:sp>
    </p:spTree>
    <p:extLst>
      <p:ext uri="{BB962C8B-B14F-4D97-AF65-F5344CB8AC3E}">
        <p14:creationId xmlns:p14="http://schemas.microsoft.com/office/powerpoint/2010/main" val="315003371"/>
      </p:ext>
    </p:extLst>
  </p:cSld>
  <p:clrMapOvr>
    <a:masterClrMapping/>
  </p:clrMapOvr>
</p:sld>
</file>

<file path=ppt/theme/theme1.xml><?xml version="1.0" encoding="utf-8"?>
<a:theme xmlns:a="http://schemas.openxmlformats.org/drawingml/2006/main" name="Faceta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</TotalTime>
  <Words>483</Words>
  <Application>Microsoft Office PowerPoint</Application>
  <PresentationFormat>Panorámica</PresentationFormat>
  <Paragraphs>36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10" baseType="lpstr">
      <vt:lpstr>Arial</vt:lpstr>
      <vt:lpstr>Times New Roman</vt:lpstr>
      <vt:lpstr>Trebuchet MS</vt:lpstr>
      <vt:lpstr>Wingdings 3</vt:lpstr>
      <vt:lpstr>Faceta</vt:lpstr>
      <vt:lpstr>Presentación de PowerPoint</vt:lpstr>
      <vt:lpstr>Introducción</vt:lpstr>
      <vt:lpstr>Justificación</vt:lpstr>
      <vt:lpstr>Presentación de PowerPoint</vt:lpstr>
      <vt:lpstr>Conclusión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HP AMD</dc:creator>
  <cp:lastModifiedBy>HP AMD</cp:lastModifiedBy>
  <cp:revision>1</cp:revision>
  <dcterms:created xsi:type="dcterms:W3CDTF">2026-06-15T02:11:33Z</dcterms:created>
  <dcterms:modified xsi:type="dcterms:W3CDTF">2026-06-15T02:15:20Z</dcterms:modified>
</cp:coreProperties>
</file>